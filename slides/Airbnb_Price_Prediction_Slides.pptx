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b463372-80ff-2cd1-fc9a-057d17bef3ef}">
          <p14:sldIdLst>
            <p14:sldId id="256"/>
            <p14:sldId id="257"/>
          </p14:sldIdLst>
        </p14:section>
        <p14:section name="Data and method" id="{fd5e05e2-0db8-269b-abd0-def1e6bcce84}">
          <p14:sldIdLst>
            <p14:sldId id="258"/>
            <p14:sldId id="259"/>
            <p14:sldId id="260"/>
            <p14:sldId id="261"/>
          </p14:sldIdLst>
        </p14:section>
        <p14:section name="Results" id="{77667639-9d3f-6e22-b087-36c2a16c5a5d}">
          <p14:sldIdLst>
            <p14:sldId id="262"/>
            <p14:sldId id="263"/>
            <p14:sldId id="264"/>
            <p14:sldId id="265"/>
          </p14:sldIdLst>
        </p14:section>
        <p14:section name="Demo and conclusion" id="{70f545ee-b1ad-9c29-eb2c-849c38698cf0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Test R² on log(price)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York City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1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Ridge</c:v>
                  </c:pt>
                  <c:pt idx="1">
                    <c:v>KNN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MLP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0.769</c:v>
                </c:pt>
                <c:pt idx="1">
                  <c:v>0.76</c:v>
                </c:pt>
                <c:pt idx="2">
                  <c:v>0.825</c:v>
                </c:pt>
                <c:pt idx="3">
                  <c:v>0.85</c:v>
                </c:pt>
                <c:pt idx="4">
                  <c:v>0.797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Paris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1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Ridge</c:v>
                  </c:pt>
                  <c:pt idx="1">
                    <c:v>KNN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MLP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0.707</c:v>
                </c:pt>
                <c:pt idx="1">
                  <c:v>0.651</c:v>
                </c:pt>
                <c:pt idx="2">
                  <c:v>0.799</c:v>
                </c:pt>
                <c:pt idx="3">
                  <c:v>0.838</c:v>
                </c:pt>
                <c:pt idx="4">
                  <c:v>0.798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Berlin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1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Ridge</c:v>
                  </c:pt>
                  <c:pt idx="1">
                    <c:v>KNN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MLP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0.865</c:v>
                </c:pt>
                <c:pt idx="1">
                  <c:v>0.807</c:v>
                </c:pt>
                <c:pt idx="2">
                  <c:v>0.874</c:v>
                </c:pt>
                <c:pt idx="3">
                  <c:v>0.895</c:v>
                </c:pt>
                <c:pt idx="4">
                  <c:v>0.851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4A516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1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1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A51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XGBoost test R² by feature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York City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1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Continuous (C)</c:v>
                  </c:pt>
                  <c:pt idx="1">
                    <c:v>Categorical (O)</c:v>
                  </c:pt>
                  <c:pt idx="2">
                    <c:v>Text (T)</c:v>
                  </c:pt>
                  <c:pt idx="3">
                    <c:v>C + O</c:v>
                  </c:pt>
                  <c:pt idx="4">
                    <c:v>C + O + 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0.843</c:v>
                </c:pt>
                <c:pt idx="1">
                  <c:v>0.556</c:v>
                </c:pt>
                <c:pt idx="2">
                  <c:v>0.532</c:v>
                </c:pt>
                <c:pt idx="3">
                  <c:v>0.856</c:v>
                </c:pt>
                <c:pt idx="4">
                  <c:v>0.85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Paris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1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Continuous (C)</c:v>
                  </c:pt>
                  <c:pt idx="1">
                    <c:v>Categorical (O)</c:v>
                  </c:pt>
                  <c:pt idx="2">
                    <c:v>Text (T)</c:v>
                  </c:pt>
                  <c:pt idx="3">
                    <c:v>C + O</c:v>
                  </c:pt>
                  <c:pt idx="4">
                    <c:v>C + O + 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0.817</c:v>
                </c:pt>
                <c:pt idx="1">
                  <c:v>0.379</c:v>
                </c:pt>
                <c:pt idx="2">
                  <c:v>0.375</c:v>
                </c:pt>
                <c:pt idx="3">
                  <c:v>0.833</c:v>
                </c:pt>
                <c:pt idx="4">
                  <c:v>0.838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4A516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1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1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A51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Predicting Berlin, a city the first three models never saw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on Berlin test set</c:v>
                </c:pt>
              </c:strCache>
            </c:strRef>
          </c:tx>
          <c:spPr>
            <a:solidFill>
              <a:srgbClr val="9AB8E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1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B8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B8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B8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NYC only</c:v>
                  </c:pt>
                  <c:pt idx="1">
                    <c:v>Paris only</c:v>
                  </c:pt>
                  <c:pt idx="2">
                    <c:v>NYC + Paris</c:v>
                  </c:pt>
                  <c:pt idx="3">
                    <c:v>Berlin only (reference)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0.226</c:v>
                </c:pt>
                <c:pt idx="1">
                  <c:v>0.77</c:v>
                </c:pt>
                <c:pt idx="2">
                  <c:v>0.694</c:v>
                </c:pt>
                <c:pt idx="3">
                  <c:v>0.892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4A516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1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1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problem: we predict the nightly price of Airbnb listings in three cities, following the Stanford CS229 reference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goals. The third, transfer to an unseen city, is the 'across different cities' part of the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public Inside Airbnb. Note the NYC long-stay share: since Local Law 18 (2023) most NYC listings require 30-night stays. This matters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pipeline. Stress leakage control: estimated revenue is price times occupancy, so using it would be cheating.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distance to centre exists: raw latitude means nothing in a new city, distance to the centre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five model families as the reference report (they used sklearn defaults; we tuned XGBoost).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ensembles beat linear and KNN because price depends on interactions (e.g. room type x guests x location). The MLP is decent but needs more tuning and data than boosting.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Importance is XGBoost gain, so it shows association, not causation.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found text helped more; with 2026 data the structured columns are richer (e.g. licence, bathrooms text).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 and a difference from the reference report, where NYC + Paris transferred best. Our point: market similarity beats data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app already running before the review. Backup: the CLI commands in the README, which need no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findings,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4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D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Airbnb Listing Price Across Different Cities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CE6"/>
                </a:solidFill>
              </a:rPr>
              <a:t>UE24CS352A Machine Learning · Mini Project 71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D6DCE6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Dhanush S S  (PES1UG24AM082)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Harsha K R  (PES1UG24AM114)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109728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9616" y="1097280"/>
            <a:ext cx="292608" cy="29260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65960" y="1069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 · Paris · Berlin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Hosts guess their price; we learn it from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65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price of a listing from its size, room type, location, amenities, reviews, host details and description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models: linear regression, KNN, random forest, XGBoost and a neural network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one model can serve several cities, and price listings in a city it has never seen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49440" y="1508760"/>
            <a:ext cx="4663440" cy="329184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3774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hosts have no pricing system, unlike hotels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want to know whether a price is fair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differ by city (e.g. NYC's 2023 short-term rental law), so a model that travels is harder than it looks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75,222 listings from Inside Airbnb, June/July 2026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274320" cy="2743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20,890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· median $170/night · 78% need 28+ nights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00200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46,000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· median $227/night · 14% need 28+ nights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60020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3252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8,332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· median $151/night · 20% need 28+ nights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2336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columns per listing: size, room and property type, location, amenities, reviews, host details, title and description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listings priced 10 to 1000 USD per night; EUR converted to USD at a fixed 1.15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80/20 train/test split per city, used by every experiment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log(price): raw prices are heavily skewed, logs are close to normal</a:t>
            </a:r>
            <a:endParaRPr lang="en-US" sz="1500" dirty="0"/>
          </a:p>
        </p:txBody>
      </p:sp>
      <p:pic>
        <p:nvPicPr>
          <p:cNvPr id="19" name="Image 0" descr="/mnt/project-files/airbnb-price/airbnb-price-prediction/results/figures/pric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3931920"/>
            <a:ext cx="4846320" cy="17190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listings to a price in five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57400" cy="283464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prices, bathrooms, amenities; drop missing or extreme prices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16352" y="1554480"/>
            <a:ext cx="2057400" cy="283464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1783080"/>
            <a:ext cx="502920" cy="50292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495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29718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centre, review ages, shared-bath flag, licence flag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84064" y="1554480"/>
            <a:ext cx="2057400" cy="283464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12664" y="1783080"/>
            <a:ext cx="502920" cy="50292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266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12664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312664" y="29718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sklearn ColumnTransformer: scale, one-hot, multi-hot, TF-IDF + SVD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51776" y="1554480"/>
            <a:ext cx="2057400" cy="2834640"/>
          </a:xfrm>
          <a:prstGeom prst="roundRect">
            <a:avLst>
              <a:gd name="adj" fmla="val 5333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0376" y="1783080"/>
            <a:ext cx="502920" cy="502920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037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80376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0376" y="29718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regressors on log(price); XGBoost tuned by 3-fold random search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19488" y="1554480"/>
            <a:ext cx="2057400" cy="283464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48088" y="1783080"/>
            <a:ext cx="502920" cy="50292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4808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848088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848088" y="29718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and MSE on log price, MAE in dollars, on held-out test sets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computed from the price (price_quote_*, estimated_revenue_l365d) and the length of the quoted stay are never used. The pipeline is fitted on training data only, so the test set never influences scaling, TF-IDF vocabulary or SVD.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 features in three groups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columns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guests, bedrooms, beds, bathrooms, minimum nights, availability, reviews and 7 review scores, host tenure, superhost, licence, distance to centre, lat/lon (+ missing-value flags)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685800" cy="68580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columns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517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and property type (one-hot) plus the 60 most common amenities (multi-hot: wifi, kitchen, dishwasher, air conditioning ...)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41732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691640"/>
            <a:ext cx="685800" cy="68580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columns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6517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description → TF-IDF on unigrams and bigrams → truncated SVD to 50 dimensions (same idea as the reference report)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multi-city model also gets a one-hot city indicator. The transfer experiments drop lat/lon and keep distance to centre, which means the same thing in every city.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models, from baseline to boosted trees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3716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 Linear in the features, L2 penalty (α = 10).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86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2860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 Average price of the 15 most similar listings, distance-weighted.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200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 on bootstrap samples, a third of features per split, averaged.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14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1148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1,170 boosted trees, depth 8, learning rate 0.0225, row and column subsampling; tuned by 3-fold random search on NYC (CV R² 0.848).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029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(MLP)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50292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hidden layers (64, 32, ReLU), Adam, L2 = 0.001, early stopping on 10% validation.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predict log(price) and are scored on the same held-out listings.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wins in every city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412480" y="1371600"/>
            <a:ext cx="3200400" cy="4754880"/>
          </a:xfrm>
          <a:prstGeom prst="roundRect">
            <a:avLst>
              <a:gd name="adj" fmla="val 342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600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test R²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test R²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test R²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5120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 ≈ 15% of the price (MAE $50 NYC, $57 Paris, $39 Berlin). Reference report: 0.74 NYC, 0.70 Paris.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 track real prices across the range</a:t>
            </a:r>
            <a:endParaRPr lang="en-US" sz="3200" dirty="0"/>
          </a:p>
        </p:txBody>
      </p:sp>
      <p:pic>
        <p:nvPicPr>
          <p:cNvPr id="3" name="Image 0" descr="/mnt/project-files/airbnb-price/airbnb-price-prediction/results/figures/pred_vs_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22311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held-out listing; the dashed line is a perfect prediction.</a:t>
            </a:r>
            <a:endParaRPr lang="en-US" sz="1300" dirty="0"/>
          </a:p>
        </p:txBody>
      </p:sp>
      <p:pic>
        <p:nvPicPr>
          <p:cNvPr id="5" name="Image 1" descr="/mnt/project-files/airbnb-price/airbnb-price-prediction/results/figures/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023360" cy="281635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25196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price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48463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vs private bathroom and room type: a room in a shared flat is far cheaper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status and minimum stay: long-stay listings are quoted at monthly-discount rates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(guests, bedrooms, bathrooms), then location (distance to centre) and amenities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features carry the signal; text adds little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412480" y="1371600"/>
            <a:ext cx="3200400" cy="4754880"/>
          </a:xfrm>
          <a:prstGeom prst="roundRect">
            <a:avLst>
              <a:gd name="adj" fmla="val 342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645920"/>
            <a:ext cx="2743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features alone reach 0.84 / 0.82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+ amenities add ≈ 0.015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alone is weak (0.53 / 0.38) and adds almost nothing on top: descriptions mostly restate size and location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similar market transfers; more data does not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5836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371600"/>
            <a:ext cx="4114800" cy="2148840"/>
          </a:xfrm>
          <a:prstGeom prst="roundRect">
            <a:avLst>
              <a:gd name="adj" fmla="val 510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training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96596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on NYC + Paris scores 0.836 / 0.825, almost the same as two separate models (0.844 / 0.829).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98080" y="3703320"/>
            <a:ext cx="4114800" cy="2423160"/>
          </a:xfrm>
          <a:prstGeom prst="roundRect">
            <a:avLst>
              <a:gd name="adj" fmla="val 4528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NYC fails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29768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NYC's 2023 short-term rental law, 78% of its listings need 28+ night stays (Paris 14%, Berlin 20%). NYC prices follow different rules, so its model misleads in Europe.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price any listing in three cities</a:t>
            </a:r>
            <a:endParaRPr lang="en-US" sz="3200" dirty="0"/>
          </a:p>
        </p:txBody>
      </p:sp>
      <p:pic>
        <p:nvPicPr>
          <p:cNvPr id="3" name="Image 0" descr="/tmp/claude-0/-home-claude/0ba66b79-e512-596f-b921-921b13d97a11/scratchpad/app_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6675120" cy="3904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949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app/app.py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589520" y="1325880"/>
            <a:ext cx="4023360" cy="4800600"/>
          </a:xfrm>
          <a:prstGeom prst="roundRect">
            <a:avLst>
              <a:gd name="adj" fmla="val 272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3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script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965960"/>
            <a:ext cx="3520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city and room type; change guests and bedrooms; watch the price move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NYC → Paris → Berlin with the same flat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minimum nights to 30 and see the monthly-rate drop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Terminal: python scripts/predict.py --sample 5 shows real test listings, actual vs predicted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DCE6"/>
                </a:solidFill>
              </a:rPr>
              <a:t>XGBoost on log(price) predicts within ≈15%: R² 0.85 NYC, 0.84 Paris, 0.90 Berlin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DCE6"/>
                </a:solidFill>
              </a:rPr>
              <a:t>Size, room type, bathroom sharing, licence and minimum stay matter most; text adds little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DCE6"/>
                </a:solidFill>
              </a:rPr>
              <a:t>One model can serve several cities; transfer to a new city works from a similar market (Paris → Berlin 0.77), not from NYC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DCE6"/>
                </a:solidFill>
              </a:rPr>
              <a:t>Next: seasonality and calendar data, booked prices, domain adaptation for new cities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· Questions?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CE6"/>
                </a:solidFill>
              </a:rPr>
              <a:t>Dhanush S S (PES1UG24AM082) · Harsha K R (PES1UG24AM114)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6DCE6"/>
                </a:solidFill>
              </a:rPr>
              <a:t>Code, data and results: GitHub repository (see README)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bnb Price">
  <a:themeElements>
    <a:clrScheme name="Airbnb Price">
      <a:dk1>
        <a:srgbClr val="1B1F2A"/>
      </a:dk1>
      <a:lt1>
        <a:srgbClr val="FFFFFF"/>
      </a:lt1>
      <a:dk2>
        <a:srgbClr val="243B55"/>
      </a:dk2>
      <a:lt2>
        <a:srgbClr val="F3F5F8"/>
      </a:lt2>
      <a:accent1>
        <a:srgbClr val="E8505B"/>
      </a:accent1>
      <a:accent2>
        <a:srgbClr val="2A78D6"/>
      </a:accent2>
      <a:accent3>
        <a:srgbClr val="EB6834"/>
      </a:accent3>
      <a:accent4>
        <a:srgbClr val="1BAF7A"/>
      </a:accent4>
      <a:accent5>
        <a:srgbClr val="6B7385"/>
      </a:accent5>
      <a:accent6>
        <a:srgbClr val="F4B740"/>
      </a:accent6>
      <a:hlink>
        <a:srgbClr val="2A78D6"/>
      </a:hlink>
      <a:folHlink>
        <a:srgbClr val="6B7385"/>
      </a:folHlink>
    </a:clrScheme>
    <a:fontScheme name="Airbnb Pr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Airbnb Listing Price Across Different Cities</dc:title>
  <dc:subject>PptxGenJS Presentation</dc:subject>
  <dc:creator>Dhanush S S, Harsha K R</dc:creator>
  <cp:lastModifiedBy>Dhanush S S, Harsha K R</cp:lastModifiedBy>
  <cp:revision>1</cp:revision>
  <dcterms:created xsi:type="dcterms:W3CDTF">2026-10-09T16:57:52Z</dcterms:created>
  <dcterms:modified xsi:type="dcterms:W3CDTF">2026-10-09T16:57:52Z</dcterms:modified>
</cp:coreProperties>
</file>